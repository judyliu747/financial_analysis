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F2D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475488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27432"/>
            <a:ext cx="6766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Alibaba Group Holding Limited (NYSE: BABA  |  HKEX: 9988)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040880" y="73152"/>
            <a:ext cx="822960" cy="256032"/>
          </a:xfrm>
          <a:prstGeom prst="roundRect">
            <a:avLst>
              <a:gd name="adj" fmla="val 10714"/>
            </a:avLst>
          </a:prstGeom>
          <a:solidFill>
            <a:srgbClr val="00A651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0" y="731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936992" y="73152"/>
            <a:ext cx="1115568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36992" y="73152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PT: $120.00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0" y="475488"/>
            <a:ext cx="9144000" cy="25603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4754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Price: </a:t>
            </a:r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$122.41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828800" y="4754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Mkt Cap: </a:t>
            </a:r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~$292B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657600" y="4754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52W Range: </a:t>
            </a:r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$95.73 – $192.67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486400" y="4754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Sector: </a:t>
            </a:r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Discretionary / Technology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315200" y="4754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Exchange: </a:t>
            </a:r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NYSE / HKEX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526280" y="749808"/>
            <a:ext cx="0" cy="579729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611880"/>
            <a:ext cx="9144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" y="749808"/>
            <a:ext cx="4343400" cy="201168"/>
          </a:xfrm>
          <a:prstGeom prst="rect">
            <a:avLst/>
          </a:prstGeom>
          <a:solidFill>
            <a:srgbClr val="1F2D5C"/>
          </a:solidFill>
          <a:ln/>
        </p:spPr>
      </p:sp>
      <p:sp>
        <p:nvSpPr>
          <p:cNvPr id="18" name="Text 16"/>
          <p:cNvSpPr/>
          <p:nvPr/>
        </p:nvSpPr>
        <p:spPr>
          <a:xfrm>
            <a:off x="210312" y="749808"/>
            <a:ext cx="4270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10312" y="987552"/>
            <a:ext cx="4251960" cy="237744"/>
          </a:xfrm>
          <a:prstGeom prst="rect">
            <a:avLst/>
          </a:prstGeom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F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Founded / HQ: </a:t>
            </a:r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1999, Hangzhou, Zhejiang, China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10312" y="1239012"/>
            <a:ext cx="4251960" cy="237744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F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Employees: </a:t>
            </a:r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~240,000 (FY2025)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10312" y="1490472"/>
            <a:ext cx="4251960" cy="237744"/>
          </a:xfrm>
          <a:prstGeom prst="rect">
            <a:avLst/>
          </a:prstGeom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F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CEO: </a:t>
            </a:r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Eddie Wu (since Sep 2023)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10312" y="1741932"/>
            <a:ext cx="4251960" cy="237744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F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Chairman: </a:t>
            </a:r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Joseph Tsai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10312" y="1993392"/>
            <a:ext cx="4251960" cy="237744"/>
          </a:xfrm>
          <a:prstGeom prst="rect">
            <a:avLst/>
          </a:prstGeom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F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Listing: </a:t>
            </a:r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NYSE (BABA) since 2014 | HKEX (9988) since 2019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10312" y="2244852"/>
            <a:ext cx="4251960" cy="237744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F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Business: </a:t>
            </a:r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China's largest e-commerce &amp; cloud ecosystem; global AI leader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10312" y="2496312"/>
            <a:ext cx="4251960" cy="237744"/>
          </a:xfrm>
          <a:prstGeom prst="rect">
            <a:avLst/>
          </a:prstGeom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F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AI App: </a:t>
            </a:r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300M+ monthly active users (MAU) as of Q3 FY2026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10312" y="2747772"/>
            <a:ext cx="4251960" cy="237744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F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88VIP Members: </a:t>
            </a:r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59M+ premium members (double-digit YoY growth)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10312" y="2999232"/>
            <a:ext cx="4251960" cy="237744"/>
          </a:xfrm>
          <a:prstGeom prst="rect">
            <a:avLst/>
          </a:prstGeom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F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Capex: </a:t>
            </a:r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¥380B (~$53B) over 3 years committed; AI infra build-out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10312" y="3250692"/>
            <a:ext cx="4251960" cy="237744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F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Buyback: </a:t>
            </a:r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$25B authorization; $11.9B repurchased in FY2025 (5.1% net reduction)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617720" y="749808"/>
            <a:ext cx="4343400" cy="201168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0" name="Text 28"/>
          <p:cNvSpPr/>
          <p:nvPr/>
        </p:nvSpPr>
        <p:spPr>
          <a:xfrm>
            <a:off x="4690872" y="749808"/>
            <a:ext cx="4270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&amp; STRATEGIC POSITIONING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672584" y="987552"/>
            <a:ext cx="4251960" cy="475488"/>
          </a:xfrm>
          <a:prstGeom prst="rect">
            <a:avLst/>
          </a:prstGeom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INTELLIGENCE — #1 cloud in China (~36% market share); Cloud revenue +36% YoY to ¥43.3B in Q3 FY26; AI product revenue: triple-digit growth for 10 consecutive quarters.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72584" y="1495044"/>
            <a:ext cx="4251960" cy="475488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E-COMMERCE — Taobao &amp; Tmall dominate domestic marketplace GMV; monetized via advertising, take-rate &amp; logistics. Quick commerce (Taobao Instant) +56% YoY targeting ¥1T GMV by FY2028.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672584" y="2002536"/>
            <a:ext cx="4251960" cy="475488"/>
          </a:xfrm>
          <a:prstGeom prst="rect">
            <a:avLst/>
          </a:prstGeom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F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COMMERCE (AIDC) — AliExpress (global), Lazada (SE Asia), Trendyol (Turkey); in deliberate quality-over-quantity pivot; losses narrowing materially YoY.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72584" y="2510028"/>
            <a:ext cx="4251960" cy="475488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STRATEGY — Qwen frontier model family at 300M MAU; competing with OpenAI/Google globally; T-Head AI chips (470K+ shipped) reducing GPU dependency; AI cloud demand outpacing supply.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72584" y="3017520"/>
            <a:ext cx="4251960" cy="475488"/>
          </a:xfrm>
          <a:prstGeom prst="rect">
            <a:avLst/>
          </a:prstGeom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THESIS — Deliberate investment cycle compressing near-term EPS. Cloud re-acceleration to +36% and 88VIP at 59M validate long-term compounding. Trades at ~11x FY2027E Non-GAAP P/E.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37160" y="3657600"/>
            <a:ext cx="4343400" cy="201168"/>
          </a:xfrm>
          <a:prstGeom prst="rect">
            <a:avLst/>
          </a:prstGeom>
          <a:solidFill>
            <a:srgbClr val="1F2D5C"/>
          </a:solidFill>
          <a:ln/>
        </p:spPr>
      </p:sp>
      <p:sp>
        <p:nvSpPr>
          <p:cNvPr id="37" name="Text 35"/>
          <p:cNvSpPr/>
          <p:nvPr/>
        </p:nvSpPr>
        <p:spPr>
          <a:xfrm>
            <a:off x="210312" y="3657600"/>
            <a:ext cx="4270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FINANCIALS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82880" y="3895344"/>
            <a:ext cx="1600200" cy="214884"/>
          </a:xfrm>
          <a:prstGeom prst="rect">
            <a:avLst/>
          </a:prstGeom>
          <a:solidFill>
            <a:srgbClr val="1F2D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2880" y="3895344"/>
            <a:ext cx="16002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1783080" y="3895344"/>
            <a:ext cx="804672" cy="214884"/>
          </a:xfrm>
          <a:prstGeom prst="rect">
            <a:avLst/>
          </a:prstGeom>
          <a:solidFill>
            <a:srgbClr val="1F2D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783080" y="3895344"/>
            <a:ext cx="804672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FY2025A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2587752" y="3895344"/>
            <a:ext cx="841248" cy="214884"/>
          </a:xfrm>
          <a:prstGeom prst="rect">
            <a:avLst/>
          </a:prstGeom>
          <a:solidFill>
            <a:srgbClr val="1F2D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87752" y="3895344"/>
            <a:ext cx="841248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FY2026E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3429000" y="3895344"/>
            <a:ext cx="841248" cy="214884"/>
          </a:xfrm>
          <a:prstGeom prst="rect">
            <a:avLst/>
          </a:prstGeom>
          <a:solidFill>
            <a:srgbClr val="1F2D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29000" y="3895344"/>
            <a:ext cx="841248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FY2027E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182880" y="4110228"/>
            <a:ext cx="1600200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0312" y="4110228"/>
            <a:ext cx="1572768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F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(¥B)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1783080" y="4110228"/>
            <a:ext cx="804672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10512" y="4110228"/>
            <a:ext cx="7772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¥941B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2587752" y="4110228"/>
            <a:ext cx="841248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615184" y="4110228"/>
            <a:ext cx="813816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~¥1,025B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3429000" y="4110228"/>
            <a:ext cx="841248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56432" y="4110228"/>
            <a:ext cx="813816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~¥1,140B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182880" y="4325112"/>
            <a:ext cx="1600200" cy="214884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10312" y="4325112"/>
            <a:ext cx="1572768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F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($B)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1783080" y="4325112"/>
            <a:ext cx="804672" cy="214884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10512" y="4325112"/>
            <a:ext cx="7772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$134B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2587752" y="4325112"/>
            <a:ext cx="841248" cy="214884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615184" y="4325112"/>
            <a:ext cx="813816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~$146B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3429000" y="4325112"/>
            <a:ext cx="841248" cy="214884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56432" y="4325112"/>
            <a:ext cx="813816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~$163B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182880" y="4539996"/>
            <a:ext cx="1600200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10312" y="4539996"/>
            <a:ext cx="1572768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F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YoY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1783080" y="4539996"/>
            <a:ext cx="804672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810512" y="4539996"/>
            <a:ext cx="7772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+7%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2587752" y="4539996"/>
            <a:ext cx="841248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615184" y="4539996"/>
            <a:ext cx="813816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+9%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3429000" y="4539996"/>
            <a:ext cx="841248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456432" y="4539996"/>
            <a:ext cx="813816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182880" y="4754880"/>
            <a:ext cx="1600200" cy="214884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10312" y="4754880"/>
            <a:ext cx="1572768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F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Revenue (¥B)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1783080" y="4754880"/>
            <a:ext cx="804672" cy="214884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810512" y="4754880"/>
            <a:ext cx="7772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¥117B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2587752" y="4754880"/>
            <a:ext cx="841248" cy="214884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615184" y="4754880"/>
            <a:ext cx="813816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~¥159B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3429000" y="4754880"/>
            <a:ext cx="841248" cy="214884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456432" y="4754880"/>
            <a:ext cx="813816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~¥211B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>
            <a:off x="182880" y="4969764"/>
            <a:ext cx="1600200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10312" y="4969764"/>
            <a:ext cx="1572768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F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YoY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1783080" y="4969764"/>
            <a:ext cx="804672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810512" y="4969764"/>
            <a:ext cx="7772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2587752" y="4969764"/>
            <a:ext cx="841248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615184" y="4969764"/>
            <a:ext cx="813816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+36%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3429000" y="4969764"/>
            <a:ext cx="841248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456432" y="4969764"/>
            <a:ext cx="813816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+33%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182880" y="5184648"/>
            <a:ext cx="1600200" cy="214884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10312" y="5184648"/>
            <a:ext cx="1572768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F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Adj. EBITA (¥B)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1783080" y="5184648"/>
            <a:ext cx="804672" cy="214884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810512" y="5184648"/>
            <a:ext cx="7772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~¥175B</a:t>
            </a:r>
            <a:endParaRPr lang="en-US" sz="650" dirty="0"/>
          </a:p>
        </p:txBody>
      </p:sp>
      <p:sp>
        <p:nvSpPr>
          <p:cNvPr id="90" name="Shape 88"/>
          <p:cNvSpPr/>
          <p:nvPr/>
        </p:nvSpPr>
        <p:spPr>
          <a:xfrm>
            <a:off x="2587752" y="5184648"/>
            <a:ext cx="841248" cy="214884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615184" y="5184648"/>
            <a:ext cx="813816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~¥90B</a:t>
            </a:r>
            <a:endParaRPr lang="en-US" sz="650" dirty="0"/>
          </a:p>
        </p:txBody>
      </p:sp>
      <p:sp>
        <p:nvSpPr>
          <p:cNvPr id="92" name="Shape 90"/>
          <p:cNvSpPr/>
          <p:nvPr/>
        </p:nvSpPr>
        <p:spPr>
          <a:xfrm>
            <a:off x="3429000" y="5184648"/>
            <a:ext cx="841248" cy="214884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456432" y="5184648"/>
            <a:ext cx="813816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~¥155B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182880" y="5399532"/>
            <a:ext cx="1600200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10312" y="5399532"/>
            <a:ext cx="1572768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F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Adj. EBITA Margin</a:t>
            </a:r>
            <a:endParaRPr lang="en-US" sz="650" dirty="0"/>
          </a:p>
        </p:txBody>
      </p:sp>
      <p:sp>
        <p:nvSpPr>
          <p:cNvPr id="96" name="Shape 94"/>
          <p:cNvSpPr/>
          <p:nvPr/>
        </p:nvSpPr>
        <p:spPr>
          <a:xfrm>
            <a:off x="1783080" y="5399532"/>
            <a:ext cx="804672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810512" y="5399532"/>
            <a:ext cx="7772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18.6%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2587752" y="5399532"/>
            <a:ext cx="841248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615184" y="5399532"/>
            <a:ext cx="813816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~8.8%</a:t>
            </a:r>
            <a:endParaRPr lang="en-US" sz="650" dirty="0"/>
          </a:p>
        </p:txBody>
      </p:sp>
      <p:sp>
        <p:nvSpPr>
          <p:cNvPr id="100" name="Shape 98"/>
          <p:cNvSpPr/>
          <p:nvPr/>
        </p:nvSpPr>
        <p:spPr>
          <a:xfrm>
            <a:off x="3429000" y="5399532"/>
            <a:ext cx="841248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456432" y="5399532"/>
            <a:ext cx="813816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~13.6%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182880" y="5614416"/>
            <a:ext cx="1600200" cy="214884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10312" y="5614416"/>
            <a:ext cx="1572768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F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Non-GAAP EPS/ADS (¥)</a:t>
            </a:r>
            <a:endParaRPr lang="en-US" sz="650" dirty="0"/>
          </a:p>
        </p:txBody>
      </p:sp>
      <p:sp>
        <p:nvSpPr>
          <p:cNvPr id="104" name="Shape 102"/>
          <p:cNvSpPr/>
          <p:nvPr/>
        </p:nvSpPr>
        <p:spPr>
          <a:xfrm>
            <a:off x="1783080" y="5614416"/>
            <a:ext cx="804672" cy="214884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810512" y="5614416"/>
            <a:ext cx="7772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¥50.0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2587752" y="5614416"/>
            <a:ext cx="841248" cy="214884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615184" y="5614416"/>
            <a:ext cx="813816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~¥28.0</a:t>
            </a:r>
            <a:endParaRPr lang="en-US" sz="650" dirty="0"/>
          </a:p>
        </p:txBody>
      </p:sp>
      <p:sp>
        <p:nvSpPr>
          <p:cNvPr id="108" name="Shape 106"/>
          <p:cNvSpPr/>
          <p:nvPr/>
        </p:nvSpPr>
        <p:spPr>
          <a:xfrm>
            <a:off x="3429000" y="5614416"/>
            <a:ext cx="841248" cy="214884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456432" y="5614416"/>
            <a:ext cx="813816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~¥52.0</a:t>
            </a:r>
            <a:endParaRPr lang="en-US" sz="650" dirty="0"/>
          </a:p>
        </p:txBody>
      </p:sp>
      <p:sp>
        <p:nvSpPr>
          <p:cNvPr id="110" name="Shape 108"/>
          <p:cNvSpPr/>
          <p:nvPr/>
        </p:nvSpPr>
        <p:spPr>
          <a:xfrm>
            <a:off x="182880" y="5829300"/>
            <a:ext cx="1600200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10312" y="5829300"/>
            <a:ext cx="1572768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F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Non-GAAP EPS/ADS ($)</a:t>
            </a:r>
            <a:endParaRPr lang="en-US" sz="650" dirty="0"/>
          </a:p>
        </p:txBody>
      </p:sp>
      <p:sp>
        <p:nvSpPr>
          <p:cNvPr id="112" name="Shape 110"/>
          <p:cNvSpPr/>
          <p:nvPr/>
        </p:nvSpPr>
        <p:spPr>
          <a:xfrm>
            <a:off x="1783080" y="5829300"/>
            <a:ext cx="804672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810512" y="5829300"/>
            <a:ext cx="7772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$9.01</a:t>
            </a:r>
            <a:endParaRPr lang="en-US" sz="650" dirty="0"/>
          </a:p>
        </p:txBody>
      </p:sp>
      <p:sp>
        <p:nvSpPr>
          <p:cNvPr id="114" name="Shape 112"/>
          <p:cNvSpPr/>
          <p:nvPr/>
        </p:nvSpPr>
        <p:spPr>
          <a:xfrm>
            <a:off x="2587752" y="5829300"/>
            <a:ext cx="841248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615184" y="5829300"/>
            <a:ext cx="813816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~$4.00</a:t>
            </a:r>
            <a:endParaRPr lang="en-US" sz="650" dirty="0"/>
          </a:p>
        </p:txBody>
      </p:sp>
      <p:sp>
        <p:nvSpPr>
          <p:cNvPr id="116" name="Shape 114"/>
          <p:cNvSpPr/>
          <p:nvPr/>
        </p:nvSpPr>
        <p:spPr>
          <a:xfrm>
            <a:off x="3429000" y="5829300"/>
            <a:ext cx="841248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456432" y="5829300"/>
            <a:ext cx="813816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~$7.43</a:t>
            </a:r>
            <a:endParaRPr lang="en-US" sz="650" dirty="0"/>
          </a:p>
        </p:txBody>
      </p:sp>
      <p:sp>
        <p:nvSpPr>
          <p:cNvPr id="118" name="Shape 116"/>
          <p:cNvSpPr/>
          <p:nvPr/>
        </p:nvSpPr>
        <p:spPr>
          <a:xfrm>
            <a:off x="182880" y="6044184"/>
            <a:ext cx="1600200" cy="214884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10312" y="6044184"/>
            <a:ext cx="1572768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F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Non-GAAP P/E</a:t>
            </a:r>
            <a:endParaRPr lang="en-US" sz="650" dirty="0"/>
          </a:p>
        </p:txBody>
      </p:sp>
      <p:sp>
        <p:nvSpPr>
          <p:cNvPr id="120" name="Shape 118"/>
          <p:cNvSpPr/>
          <p:nvPr/>
        </p:nvSpPr>
        <p:spPr>
          <a:xfrm>
            <a:off x="1783080" y="6044184"/>
            <a:ext cx="804672" cy="214884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810512" y="6044184"/>
            <a:ext cx="7772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~11x</a:t>
            </a:r>
            <a:endParaRPr lang="en-US" sz="650" dirty="0"/>
          </a:p>
        </p:txBody>
      </p:sp>
      <p:sp>
        <p:nvSpPr>
          <p:cNvPr id="122" name="Shape 120"/>
          <p:cNvSpPr/>
          <p:nvPr/>
        </p:nvSpPr>
        <p:spPr>
          <a:xfrm>
            <a:off x="2587752" y="6044184"/>
            <a:ext cx="841248" cy="214884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2615184" y="6044184"/>
            <a:ext cx="813816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~22x</a:t>
            </a:r>
            <a:endParaRPr lang="en-US" sz="650" dirty="0"/>
          </a:p>
        </p:txBody>
      </p:sp>
      <p:sp>
        <p:nvSpPr>
          <p:cNvPr id="124" name="Shape 122"/>
          <p:cNvSpPr/>
          <p:nvPr/>
        </p:nvSpPr>
        <p:spPr>
          <a:xfrm>
            <a:off x="3429000" y="6044184"/>
            <a:ext cx="841248" cy="214884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456432" y="6044184"/>
            <a:ext cx="813816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~11x</a:t>
            </a:r>
            <a:endParaRPr lang="en-US" sz="650" dirty="0"/>
          </a:p>
        </p:txBody>
      </p:sp>
      <p:sp>
        <p:nvSpPr>
          <p:cNvPr id="126" name="Shape 124"/>
          <p:cNvSpPr/>
          <p:nvPr/>
        </p:nvSpPr>
        <p:spPr>
          <a:xfrm>
            <a:off x="182880" y="6259068"/>
            <a:ext cx="1600200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210312" y="6259068"/>
            <a:ext cx="1572768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F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88VIP Members</a:t>
            </a:r>
            <a:endParaRPr lang="en-US" sz="650" dirty="0"/>
          </a:p>
        </p:txBody>
      </p:sp>
      <p:sp>
        <p:nvSpPr>
          <p:cNvPr id="128" name="Shape 126"/>
          <p:cNvSpPr/>
          <p:nvPr/>
        </p:nvSpPr>
        <p:spPr>
          <a:xfrm>
            <a:off x="1783080" y="6259068"/>
            <a:ext cx="804672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1810512" y="6259068"/>
            <a:ext cx="7772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&gt;50M</a:t>
            </a:r>
            <a:endParaRPr lang="en-US" sz="650" dirty="0"/>
          </a:p>
        </p:txBody>
      </p:sp>
      <p:sp>
        <p:nvSpPr>
          <p:cNvPr id="130" name="Shape 128"/>
          <p:cNvSpPr/>
          <p:nvPr/>
        </p:nvSpPr>
        <p:spPr>
          <a:xfrm>
            <a:off x="2587752" y="6259068"/>
            <a:ext cx="841248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2615184" y="6259068"/>
            <a:ext cx="813816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&gt;59M</a:t>
            </a:r>
            <a:endParaRPr lang="en-US" sz="650" dirty="0"/>
          </a:p>
        </p:txBody>
      </p:sp>
      <p:sp>
        <p:nvSpPr>
          <p:cNvPr id="132" name="Shape 130"/>
          <p:cNvSpPr/>
          <p:nvPr/>
        </p:nvSpPr>
        <p:spPr>
          <a:xfrm>
            <a:off x="3429000" y="6259068"/>
            <a:ext cx="841248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3456432" y="6259068"/>
            <a:ext cx="813816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&gt;70M est.</a:t>
            </a:r>
            <a:endParaRPr lang="en-US" sz="650" dirty="0"/>
          </a:p>
        </p:txBody>
      </p:sp>
      <p:sp>
        <p:nvSpPr>
          <p:cNvPr id="134" name="Text 132"/>
          <p:cNvSpPr/>
          <p:nvPr/>
        </p:nvSpPr>
        <p:spPr>
          <a:xfrm>
            <a:off x="182880" y="6492240"/>
            <a:ext cx="4251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= Analyst estimate. ¥/USD at ~7.0. FY ends March 31.</a:t>
            </a:r>
            <a:endParaRPr lang="en-US" sz="600" dirty="0"/>
          </a:p>
        </p:txBody>
      </p:sp>
      <p:sp>
        <p:nvSpPr>
          <p:cNvPr id="135" name="Shape 133"/>
          <p:cNvSpPr/>
          <p:nvPr/>
        </p:nvSpPr>
        <p:spPr>
          <a:xfrm>
            <a:off x="4617720" y="3657600"/>
            <a:ext cx="4343400" cy="201168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136" name="Text 134"/>
          <p:cNvSpPr/>
          <p:nvPr/>
        </p:nvSpPr>
        <p:spPr>
          <a:xfrm>
            <a:off x="4690872" y="3657600"/>
            <a:ext cx="4270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SHAREHOLDERS &amp; RECENT DEVELOPMENTS</a:t>
            </a:r>
            <a:endParaRPr lang="en-US" sz="750" dirty="0"/>
          </a:p>
        </p:txBody>
      </p:sp>
      <p:sp>
        <p:nvSpPr>
          <p:cNvPr id="137" name="Text 135"/>
          <p:cNvSpPr/>
          <p:nvPr/>
        </p:nvSpPr>
        <p:spPr>
          <a:xfrm>
            <a:off x="4709160" y="3886200"/>
            <a:ext cx="4233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F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Shareholders (Approximate)</a:t>
            </a:r>
            <a:endParaRPr lang="en-US" sz="700" dirty="0"/>
          </a:p>
        </p:txBody>
      </p:sp>
      <p:sp>
        <p:nvSpPr>
          <p:cNvPr id="138" name="Text 136"/>
          <p:cNvSpPr/>
          <p:nvPr/>
        </p:nvSpPr>
        <p:spPr>
          <a:xfrm>
            <a:off x="4709160" y="4078224"/>
            <a:ext cx="960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 Ma</a:t>
            </a:r>
            <a:endParaRPr lang="en-US" sz="650" dirty="0"/>
          </a:p>
        </p:txBody>
      </p:sp>
      <p:sp>
        <p:nvSpPr>
          <p:cNvPr id="139" name="Shape 137"/>
          <p:cNvSpPr/>
          <p:nvPr/>
        </p:nvSpPr>
        <p:spPr>
          <a:xfrm>
            <a:off x="5669280" y="4123944"/>
            <a:ext cx="2011680" cy="15544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40" name="Shape 138"/>
          <p:cNvSpPr/>
          <p:nvPr/>
        </p:nvSpPr>
        <p:spPr>
          <a:xfrm>
            <a:off x="5669280" y="4123944"/>
            <a:ext cx="1374648" cy="155448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141" name="Text 139"/>
          <p:cNvSpPr/>
          <p:nvPr/>
        </p:nvSpPr>
        <p:spPr>
          <a:xfrm>
            <a:off x="7726680" y="4078224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650" dirty="0"/>
          </a:p>
        </p:txBody>
      </p:sp>
      <p:sp>
        <p:nvSpPr>
          <p:cNvPr id="142" name="Text 140"/>
          <p:cNvSpPr/>
          <p:nvPr/>
        </p:nvSpPr>
        <p:spPr>
          <a:xfrm>
            <a:off x="4709160" y="4325112"/>
            <a:ext cx="960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SoftBank</a:t>
            </a:r>
            <a:endParaRPr lang="en-US" sz="650" dirty="0"/>
          </a:p>
        </p:txBody>
      </p:sp>
      <p:sp>
        <p:nvSpPr>
          <p:cNvPr id="143" name="Shape 141"/>
          <p:cNvSpPr/>
          <p:nvPr/>
        </p:nvSpPr>
        <p:spPr>
          <a:xfrm>
            <a:off x="5669280" y="4370832"/>
            <a:ext cx="2011680" cy="15544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44" name="Shape 142"/>
          <p:cNvSpPr/>
          <p:nvPr/>
        </p:nvSpPr>
        <p:spPr>
          <a:xfrm>
            <a:off x="5669280" y="4370832"/>
            <a:ext cx="1274064" cy="155448"/>
          </a:xfrm>
          <a:prstGeom prst="rect">
            <a:avLst/>
          </a:prstGeom>
          <a:solidFill>
            <a:srgbClr val="1F2D5C"/>
          </a:solidFill>
          <a:ln/>
        </p:spPr>
      </p:sp>
      <p:sp>
        <p:nvSpPr>
          <p:cNvPr id="145" name="Text 143"/>
          <p:cNvSpPr/>
          <p:nvPr/>
        </p:nvSpPr>
        <p:spPr>
          <a:xfrm>
            <a:off x="7726680" y="4325112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650" dirty="0"/>
          </a:p>
        </p:txBody>
      </p:sp>
      <p:sp>
        <p:nvSpPr>
          <p:cNvPr id="146" name="Text 144"/>
          <p:cNvSpPr/>
          <p:nvPr/>
        </p:nvSpPr>
        <p:spPr>
          <a:xfrm>
            <a:off x="4709160" y="4572000"/>
            <a:ext cx="960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Vanguard</a:t>
            </a:r>
            <a:endParaRPr lang="en-US" sz="650" dirty="0"/>
          </a:p>
        </p:txBody>
      </p:sp>
      <p:sp>
        <p:nvSpPr>
          <p:cNvPr id="147" name="Shape 145"/>
          <p:cNvSpPr/>
          <p:nvPr/>
        </p:nvSpPr>
        <p:spPr>
          <a:xfrm>
            <a:off x="5669280" y="4617720"/>
            <a:ext cx="2011680" cy="15544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48" name="Shape 146"/>
          <p:cNvSpPr/>
          <p:nvPr/>
        </p:nvSpPr>
        <p:spPr>
          <a:xfrm>
            <a:off x="5669280" y="4617720"/>
            <a:ext cx="1173480" cy="155448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49" name="Text 147"/>
          <p:cNvSpPr/>
          <p:nvPr/>
        </p:nvSpPr>
        <p:spPr>
          <a:xfrm>
            <a:off x="7726680" y="4572000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650" dirty="0"/>
          </a:p>
        </p:txBody>
      </p:sp>
      <p:sp>
        <p:nvSpPr>
          <p:cNvPr id="150" name="Text 148"/>
          <p:cNvSpPr/>
          <p:nvPr/>
        </p:nvSpPr>
        <p:spPr>
          <a:xfrm>
            <a:off x="4709160" y="4818888"/>
            <a:ext cx="960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BlackRock</a:t>
            </a:r>
            <a:endParaRPr lang="en-US" sz="650" dirty="0"/>
          </a:p>
        </p:txBody>
      </p:sp>
      <p:sp>
        <p:nvSpPr>
          <p:cNvPr id="151" name="Shape 149"/>
          <p:cNvSpPr/>
          <p:nvPr/>
        </p:nvSpPr>
        <p:spPr>
          <a:xfrm>
            <a:off x="5669280" y="4864608"/>
            <a:ext cx="2011680" cy="15544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52" name="Shape 150"/>
          <p:cNvSpPr/>
          <p:nvPr/>
        </p:nvSpPr>
        <p:spPr>
          <a:xfrm>
            <a:off x="5669280" y="4864608"/>
            <a:ext cx="938784" cy="15544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153" name="Text 151"/>
          <p:cNvSpPr/>
          <p:nvPr/>
        </p:nvSpPr>
        <p:spPr>
          <a:xfrm>
            <a:off x="7726680" y="4818888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650" dirty="0"/>
          </a:p>
        </p:txBody>
      </p:sp>
      <p:sp>
        <p:nvSpPr>
          <p:cNvPr id="154" name="Text 152"/>
          <p:cNvSpPr/>
          <p:nvPr/>
        </p:nvSpPr>
        <p:spPr>
          <a:xfrm>
            <a:off x="4709160" y="5065776"/>
            <a:ext cx="960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Joseph Tsai</a:t>
            </a:r>
            <a:endParaRPr lang="en-US" sz="650" dirty="0"/>
          </a:p>
        </p:txBody>
      </p:sp>
      <p:sp>
        <p:nvSpPr>
          <p:cNvPr id="155" name="Shape 153"/>
          <p:cNvSpPr/>
          <p:nvPr/>
        </p:nvSpPr>
        <p:spPr>
          <a:xfrm>
            <a:off x="5669280" y="5111496"/>
            <a:ext cx="2011680" cy="15544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56" name="Shape 154"/>
          <p:cNvSpPr/>
          <p:nvPr/>
        </p:nvSpPr>
        <p:spPr>
          <a:xfrm>
            <a:off x="5669280" y="5111496"/>
            <a:ext cx="435864" cy="155448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157" name="Text 155"/>
          <p:cNvSpPr/>
          <p:nvPr/>
        </p:nvSpPr>
        <p:spPr>
          <a:xfrm>
            <a:off x="7726680" y="5065776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650" dirty="0"/>
          </a:p>
        </p:txBody>
      </p:sp>
      <p:sp>
        <p:nvSpPr>
          <p:cNvPr id="158" name="Text 156"/>
          <p:cNvSpPr/>
          <p:nvPr/>
        </p:nvSpPr>
        <p:spPr>
          <a:xfrm>
            <a:off x="4709160" y="5312664"/>
            <a:ext cx="960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Street</a:t>
            </a:r>
            <a:endParaRPr lang="en-US" sz="650" dirty="0"/>
          </a:p>
        </p:txBody>
      </p:sp>
      <p:sp>
        <p:nvSpPr>
          <p:cNvPr id="159" name="Shape 157"/>
          <p:cNvSpPr/>
          <p:nvPr/>
        </p:nvSpPr>
        <p:spPr>
          <a:xfrm>
            <a:off x="5669280" y="5358384"/>
            <a:ext cx="2011680" cy="15544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60" name="Shape 158"/>
          <p:cNvSpPr/>
          <p:nvPr/>
        </p:nvSpPr>
        <p:spPr>
          <a:xfrm>
            <a:off x="5669280" y="5358384"/>
            <a:ext cx="368808" cy="15544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61" name="Text 159"/>
          <p:cNvSpPr/>
          <p:nvPr/>
        </p:nvSpPr>
        <p:spPr>
          <a:xfrm>
            <a:off x="7726680" y="5312664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650" dirty="0"/>
          </a:p>
        </p:txBody>
      </p:sp>
      <p:sp>
        <p:nvSpPr>
          <p:cNvPr id="162" name="Text 160"/>
          <p:cNvSpPr/>
          <p:nvPr/>
        </p:nvSpPr>
        <p:spPr>
          <a:xfrm>
            <a:off x="4709160" y="5650992"/>
            <a:ext cx="4233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F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Developments</a:t>
            </a:r>
            <a:endParaRPr lang="en-US" sz="700" dirty="0"/>
          </a:p>
        </p:txBody>
      </p:sp>
      <p:sp>
        <p:nvSpPr>
          <p:cNvPr id="163" name="Text 161"/>
          <p:cNvSpPr/>
          <p:nvPr/>
        </p:nvSpPr>
        <p:spPr>
          <a:xfrm>
            <a:off x="4709160" y="5852160"/>
            <a:ext cx="4206240" cy="292608"/>
          </a:xfrm>
          <a:prstGeom prst="rect">
            <a:avLst/>
          </a:prstGeom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2026  </a:t>
            </a:r>
            <a:pPr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FY2026: Cloud +36% YoY; revenue miss (¥284.8B); EPS –67% on ¥380B AI capex cycle; stock –7.2%</a:t>
            </a:r>
            <a:endParaRPr lang="en-US" sz="650" dirty="0"/>
          </a:p>
        </p:txBody>
      </p:sp>
      <p:sp>
        <p:nvSpPr>
          <p:cNvPr id="164" name="Text 162"/>
          <p:cNvSpPr/>
          <p:nvPr/>
        </p:nvSpPr>
        <p:spPr>
          <a:xfrm>
            <a:off x="4709160" y="6163056"/>
            <a:ext cx="4206240" cy="292608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2026  </a:t>
            </a:r>
            <a:pPr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 ¥380B (~$53B) AI/cloud capex over 3 years; CEO notes pace "may be insufficient"</a:t>
            </a:r>
            <a:endParaRPr lang="en-US" sz="650" dirty="0"/>
          </a:p>
        </p:txBody>
      </p:sp>
      <p:sp>
        <p:nvSpPr>
          <p:cNvPr id="165" name="Text 163"/>
          <p:cNvSpPr/>
          <p:nvPr/>
        </p:nvSpPr>
        <p:spPr>
          <a:xfrm>
            <a:off x="4709160" y="6473952"/>
            <a:ext cx="4206240" cy="292608"/>
          </a:xfrm>
          <a:prstGeom prst="rect">
            <a:avLst/>
          </a:prstGeom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2026  </a:t>
            </a:r>
            <a:pPr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AI consumer app reached 300M MAU; cloud external revenue crossed ¥100B for FY2026 YTD</a:t>
            </a:r>
            <a:endParaRPr lang="en-US" sz="650" dirty="0"/>
          </a:p>
        </p:txBody>
      </p:sp>
      <p:sp>
        <p:nvSpPr>
          <p:cNvPr id="166" name="Text 164"/>
          <p:cNvSpPr/>
          <p:nvPr/>
        </p:nvSpPr>
        <p:spPr>
          <a:xfrm>
            <a:off x="4709160" y="6784848"/>
            <a:ext cx="4206240" cy="292608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2025  </a:t>
            </a:r>
            <a:pPr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88VIP premium members surpassed 59M; T-Head AI chips: 470K+ cumulative shipments</a:t>
            </a:r>
            <a:endParaRPr lang="en-US" sz="650" dirty="0"/>
          </a:p>
        </p:txBody>
      </p:sp>
      <p:sp>
        <p:nvSpPr>
          <p:cNvPr id="167" name="Text 165"/>
          <p:cNvSpPr/>
          <p:nvPr/>
        </p:nvSpPr>
        <p:spPr>
          <a:xfrm>
            <a:off x="4709160" y="7095744"/>
            <a:ext cx="4206240" cy="292608"/>
          </a:xfrm>
          <a:prstGeom prst="rect">
            <a:avLst/>
          </a:prstGeom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2025  </a:t>
            </a:r>
            <a:pPr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FY2026: Cloud +34%; Adj. EBITA –78% YoY — deepest investment trough of the cycle</a:t>
            </a:r>
            <a:endParaRPr lang="en-US" sz="650" dirty="0"/>
          </a:p>
        </p:txBody>
      </p:sp>
      <p:sp>
        <p:nvSpPr>
          <p:cNvPr id="168" name="Shape 166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1F2D5C"/>
          </a:solidFill>
          <a:ln/>
        </p:spPr>
      </p:sp>
      <p:sp>
        <p:nvSpPr>
          <p:cNvPr id="169" name="Shape 167"/>
          <p:cNvSpPr/>
          <p:nvPr/>
        </p:nvSpPr>
        <p:spPr>
          <a:xfrm>
            <a:off x="0" y="6675120"/>
            <a:ext cx="73152" cy="18288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170" name="Text 168"/>
          <p:cNvSpPr/>
          <p:nvPr/>
        </p:nvSpPr>
        <p:spPr>
          <a:xfrm>
            <a:off x="164592" y="667512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Alibaba Group IR, BusinessWire, CNBC, SEC EDGAR, yfinance. Market data as of March 21, 2026. For informational purposes only — not investment advice.</a:t>
            </a:r>
            <a:endParaRPr lang="en-US" sz="550" dirty="0"/>
          </a:p>
        </p:txBody>
      </p:sp>
      <p:sp>
        <p:nvSpPr>
          <p:cNvPr id="171" name="Text 169"/>
          <p:cNvSpPr/>
          <p:nvPr/>
        </p:nvSpPr>
        <p:spPr>
          <a:xfrm>
            <a:off x="7406640" y="66751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21, 2026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2026-03-21T06:05:43Z</dcterms:created>
  <dcterms:modified xsi:type="dcterms:W3CDTF">2026-03-21T06:05:43Z</dcterms:modified>
</cp:coreProperties>
</file>