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C8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D7171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2743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 Manufacturing International Corporation (SMIC)  |  0981.HK  •  688981.SS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0" y="73152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E7972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731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0" y="73152"/>
            <a:ext cx="80467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79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7315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79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TP: HKD 38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475488"/>
            <a:ext cx="9144000" cy="256032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84632"/>
            <a:ext cx="152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 Cap: </a:t>
            </a:r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~$38.8B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24000" y="484632"/>
            <a:ext cx="152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EV: </a:t>
            </a:r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~$37.8B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0" y="484632"/>
            <a:ext cx="152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Price: </a:t>
            </a:r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 28.40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"/>
            <a:ext cx="152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52-Wk: </a:t>
            </a:r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 17.82–42.80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96000" y="484632"/>
            <a:ext cx="152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Sector: </a:t>
            </a:r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 Foundry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620000" y="484632"/>
            <a:ext cx="152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Date: </a:t>
            </a:r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16, 2026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749808"/>
            <a:ext cx="0" cy="28346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6118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804672"/>
            <a:ext cx="64008" cy="219456"/>
          </a:xfrm>
          <a:prstGeom prst="rect">
            <a:avLst/>
          </a:prstGeom>
          <a:solidFill>
            <a:srgbClr val="D71718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79552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1069848"/>
            <a:ext cx="420624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Shanghai, China; Founded: 2000; ~20,000+ employees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HKEX (0981.HK) + STAR Market (688981.SS)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Co-CEOs: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Zhao Haijun &amp; Dr. Liang Mong-Song; Chairman: Gao Yonggang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largest pure-play foundry; logic ICs in consumer, mobile, industrial &amp; AI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Nodes: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0.35µm → 7nm (N+2); developing 5nm (N+3) via multi-patterning DUV (no EUV)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~1.06M 8" eq. wspm (end-2025); +111K wspm added in FY2025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95.7% (Q4'25) — highest in 2 years; target &gt;90% through FY2026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(~35-40% rev.), Qualcomm China, HiSilicon, domestic fabless leaders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45152" y="804672"/>
            <a:ext cx="64008" cy="219456"/>
          </a:xfrm>
          <a:prstGeom prst="rect">
            <a:avLst/>
          </a:prstGeom>
          <a:solidFill>
            <a:srgbClr val="E79722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79552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Positioning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069848"/>
            <a:ext cx="425196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Markets (Q4'25):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Elec. 47% | Smartphone 20% | Industrial/Auto 15% | PC/Server 10% | Other 8%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Domestic ~90% | Americas ~6% | Other ~4% — strongest domestic revenue share among global foundries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7nm Ramp: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N+2 yield 60-70% (vs. &lt;40% at launch H2'23); ~20K wspm capacity; Huawei buys ~15K wspm for Kirin + Ascend 910C AI chips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5nm Dev. (N+3):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Multi-patterning DUV; Kirin 9030 (2H26E); China 7nm/5nm output targeted ×5 in 2 years (TrendForce)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Tailwind: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Ascend 910C yield improved to ~40% (from ~20% 6 months ago) — now commercially profitable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Self-Sufficiency: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 domestic-Chinese supplier of advanced nodes; government policy-backed; no EUV access = technology moat v. TSMC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spcAft>
                <a:spcPts val="350"/>
              </a:spcAft>
              <a:buNone/>
            </a:pPr>
            <a:r>
              <a:rPr lang="en-US" sz="8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Cycle: </a:t>
            </a:r>
            <a:pPr indent="0" marL="0">
              <a:spcAft>
                <a:spcPts val="35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~$6.5B invested in FY2025; FY2026 guided "roughly flat" — Beijing &amp; Tianjin fabs ramping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675888"/>
            <a:ext cx="64008" cy="219456"/>
          </a:xfrm>
          <a:prstGeom prst="rect">
            <a:avLst/>
          </a:prstGeom>
          <a:solidFill>
            <a:srgbClr val="D71718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666744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Financials &amp; Valuation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950208"/>
          <a:ext cx="4187952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877824"/>
                <a:gridCol w="877824"/>
                <a:gridCol w="877824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($M)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3C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$9,327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Growth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+13.6%E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$2,067E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19.5%E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$5,300E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~$6,500E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/ EBITDA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7.1xE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/ 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5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1.7xE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645152" y="3675888"/>
            <a:ext cx="64008" cy="219456"/>
          </a:xfrm>
          <a:prstGeom prst="rect">
            <a:avLst/>
          </a:prstGeom>
          <a:solidFill>
            <a:srgbClr val="E79722"/>
          </a:solidFill>
          <a:ln/>
        </p:spPr>
      </p:sp>
      <p:sp>
        <p:nvSpPr>
          <p:cNvPr id="29" name="Text 26"/>
          <p:cNvSpPr/>
          <p:nvPr/>
        </p:nvSpPr>
        <p:spPr>
          <a:xfrm>
            <a:off x="4773168" y="3666744"/>
            <a:ext cx="4160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Developments &amp; Shareholder Structure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950208"/>
          <a:ext cx="4251960" cy="1298448"/>
        </p:xfrm>
        <a:graphic>
          <a:graphicData uri="http://schemas.openxmlformats.org/drawingml/2006/table">
            <a:tbl>
              <a:tblPr/>
              <a:tblGrid>
                <a:gridCol w="1280160"/>
                <a:gridCol w="1143000"/>
                <a:gridCol w="1828800"/>
              </a:tblGrid>
              <a:tr h="22402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Q4'25 vs. Consensus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$2,489M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+2.8% BEAT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17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MISS vs 20.9%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$173M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+1.7% BEAT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Q1'26 Guide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 flat; GM 18-20%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4663440" y="5321808"/>
            <a:ext cx="54864" cy="182880"/>
          </a:xfrm>
          <a:prstGeom prst="rect">
            <a:avLst/>
          </a:prstGeom>
          <a:solidFill>
            <a:srgbClr val="E79722"/>
          </a:solidFill>
          <a:ln/>
        </p:spPr>
      </p:sp>
      <p:sp>
        <p:nvSpPr>
          <p:cNvPr id="32" name="Text 28"/>
          <p:cNvSpPr/>
          <p:nvPr/>
        </p:nvSpPr>
        <p:spPr>
          <a:xfrm>
            <a:off x="4773168" y="53126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Shareholders</a:t>
            </a:r>
            <a:endParaRPr lang="en-US" sz="9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5541264"/>
          <a:ext cx="4251960" cy="1005840"/>
        </p:xfrm>
        <a:graphic>
          <a:graphicData uri="http://schemas.openxmlformats.org/drawingml/2006/table">
            <a:tbl>
              <a:tblPr/>
              <a:tblGrid>
                <a:gridCol w="2011680"/>
                <a:gridCol w="960120"/>
                <a:gridCol w="128016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Shareholder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 (%)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C8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IC Fund I &amp; II (大基金)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73C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~19.0%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SOE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Shanghai Govt. (国盛集团等)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~16.0%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CITIC Capital (中信资本)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Float (HK + A-Share)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~61.5%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</a:tbl>
          </a:graphicData>
        </a:graphic>
      </p:graphicFrame>
      <p:sp>
        <p:nvSpPr>
          <p:cNvPr id="34" name="Shape 29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173C85"/>
          </a:solidFill>
          <a:ln/>
        </p:spPr>
      </p:sp>
      <p:sp>
        <p:nvSpPr>
          <p:cNvPr id="35" name="Text 30"/>
          <p:cNvSpPr/>
          <p:nvPr/>
        </p:nvSpPr>
        <p:spPr>
          <a:xfrm>
            <a:off x="91440" y="6665976"/>
            <a:ext cx="896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SMIC Q4 2025 Earnings Release (Feb 10, 2026); Bloomberg Consensus; Company Filings; TrendForce; Analyst Estimates as of Mar 2026  |  Confidential — For Discussion Purposes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2026-03-16T07:42:52Z</dcterms:created>
  <dcterms:modified xsi:type="dcterms:W3CDTF">2026-03-16T07:42:52Z</dcterms:modified>
</cp:coreProperties>
</file>